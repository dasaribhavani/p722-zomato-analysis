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6" r:id="rId1"/>
  </p:sldMasterIdLst>
  <p:notesMasterIdLst>
    <p:notesMasterId r:id="rId25"/>
  </p:notesMasterIdLst>
  <p:sldIdLst>
    <p:sldId id="256" r:id="rId2"/>
    <p:sldId id="283" r:id="rId3"/>
    <p:sldId id="279" r:id="rId4"/>
    <p:sldId id="265" r:id="rId5"/>
    <p:sldId id="258" r:id="rId6"/>
    <p:sldId id="257" r:id="rId7"/>
    <p:sldId id="270" r:id="rId8"/>
    <p:sldId id="281" r:id="rId9"/>
    <p:sldId id="261" r:id="rId10"/>
    <p:sldId id="266" r:id="rId11"/>
    <p:sldId id="268" r:id="rId12"/>
    <p:sldId id="267" r:id="rId13"/>
    <p:sldId id="285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6" r:id="rId22"/>
    <p:sldId id="282" r:id="rId23"/>
    <p:sldId id="278" r:id="rId24"/>
  </p:sldIdLst>
  <p:sldSz cx="14630400" cy="8229600"/>
  <p:notesSz cx="8229600" cy="14630400"/>
  <p:embeddedFontLst>
    <p:embeddedFont>
      <p:font typeface="Merriweather Bold" panose="020B0604020202020204" charset="0"/>
      <p:bold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Open Sans Bold" panose="020B0806030504020204" charset="0"/>
      <p:bold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  <p:embeddedFont>
      <p:font typeface="Tw Cen MT" panose="020B0602020104020603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d67462dec34d6a/Documents/Project%20qn%20with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d67462dec34d6a/Documents/Project%20qn%20with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qn with dashboard.xlsx]Sheet16!PivotTable9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Has_Online Delivery</a:t>
            </a:r>
          </a:p>
        </c:rich>
      </c:tx>
      <c:layout>
        <c:manualLayout>
          <c:xMode val="edge"/>
          <c:yMode val="edge"/>
          <c:x val="0.57656933508311459"/>
          <c:y val="5.91644794400699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</c:pivotFmt>
    </c:pivotFmts>
    <c:plotArea>
      <c:layout>
        <c:manualLayout>
          <c:layoutTarget val="inner"/>
          <c:xMode val="edge"/>
          <c:yMode val="edge"/>
          <c:x val="0.15259667541557306"/>
          <c:y val="0.26328484981044037"/>
          <c:w val="0.41147353455818025"/>
          <c:h val="0.68578922426363376"/>
        </c:manualLayout>
      </c:layout>
      <c:pieChart>
        <c:varyColors val="1"/>
        <c:ser>
          <c:idx val="0"/>
          <c:order val="0"/>
          <c:tx>
            <c:strRef>
              <c:f>Sheet16!$B$3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1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1-E00D-4A68-8FD5-D1249900008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2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2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3-E00D-4A68-8FD5-D12499000089}"/>
              </c:ext>
            </c:extLst>
          </c:dPt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Sheet16!$A$4:$A$6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Sheet16!$B$4:$B$6</c:f>
              <c:numCache>
                <c:formatCode>General</c:formatCode>
                <c:ptCount val="2"/>
                <c:pt idx="0">
                  <c:v>7100</c:v>
                </c:pt>
                <c:pt idx="1">
                  <c:v>2451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0D-4A68-8FD5-D12499000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qn with dashboard.xlsx]Sheet15!PivotTable8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Has_Table Booking</a:t>
            </a:r>
          </a:p>
        </c:rich>
      </c:tx>
      <c:layout>
        <c:manualLayout>
          <c:xMode val="edge"/>
          <c:yMode val="edge"/>
          <c:x val="0.54577777777777781"/>
          <c:y val="5.91644794400699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Sheet15!$B$3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2FE-4D76-A7CE-383128AC402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2FE-4D76-A7CE-383128AC40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Sheet15!$A$4:$A$6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Sheet15!$B$4:$B$6</c:f>
              <c:numCache>
                <c:formatCode>General</c:formatCode>
                <c:ptCount val="2"/>
                <c:pt idx="0">
                  <c:v>8393</c:v>
                </c:pt>
                <c:pt idx="1">
                  <c:v>1158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FE-4D76-A7CE-383128AC402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393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6001-848B-D59D-6ED9-EF7D05C4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D2184-4BD2-E84E-26BA-67D6BF2CB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16260-B896-47FD-2CB1-EC83B2DAE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EA2E8-928B-2B9F-DDCA-8CBA3B39D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64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351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651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4188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1995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5709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2896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234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8671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744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5167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040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88995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900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42087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91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2159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3424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746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464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428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135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0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1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8" r:id="rId21"/>
    <p:sldLayoutId id="2147483759" r:id="rId22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od_delivery" TargetMode="External"/><Relationship Id="rId2" Type="http://schemas.openxmlformats.org/officeDocument/2006/relationships/hyperlink" Target="https://en.wikipedia.org/wiki/Multinational_corporation" TargetMode="Externa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hyperlink" Target="https://en.wikipedia.org/wiki/Swiggy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chart" Target="../charts/char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01434"/>
            <a:ext cx="63496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Zomato Restaurant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5037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 into the world of Zomato, exploring key insights and trends in restaurant data.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931331"/>
            <a:ext cx="386465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By- Seema  Parmeshware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    - Nandini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    - Bhavani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    - Bhargavi </a:t>
            </a:r>
            <a:endParaRPr lang="en-US" sz="22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2AA318D-5078-9C03-A45E-1626CE123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47" y="0"/>
            <a:ext cx="5889662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5B05-92FF-800A-7D1E-593775B86AB9}"/>
              </a:ext>
            </a:extLst>
          </p:cNvPr>
          <p:cNvSpPr txBox="1"/>
          <p:nvPr/>
        </p:nvSpPr>
        <p:spPr>
          <a:xfrm>
            <a:off x="721261" y="1851949"/>
            <a:ext cx="13124614" cy="2781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Zomato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 is an Indian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strike="noStrike" dirty="0">
                <a:effectLst/>
                <a:latin typeface="Arial" panose="020B0604020202020204" pitchFamily="34" charset="0"/>
                <a:hlinkClick r:id="rId2" tooltip="Multinational corpo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multinational</a:t>
            </a:r>
            <a:r>
              <a:rPr lang="en-US" b="0" i="0" dirty="0">
                <a:effectLst/>
                <a:latin typeface="Arial" panose="020B0604020202020204" pitchFamily="34" charset="0"/>
              </a:rPr>
              <a:t> restaurant aggregator and </a:t>
            </a:r>
            <a:r>
              <a:rPr lang="en-US" b="0" i="0" strike="noStrike" dirty="0">
                <a:effectLst/>
                <a:latin typeface="Arial" panose="020B0604020202020204" pitchFamily="34" charset="0"/>
                <a:hlinkClick r:id="rId3" tooltip="Food delive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food delivery</a:t>
            </a:r>
            <a:r>
              <a:rPr lang="en-US" b="0" i="0" dirty="0">
                <a:effectLst/>
                <a:latin typeface="Arial" panose="020B0604020202020204" pitchFamily="34" charset="0"/>
              </a:rPr>
              <a:t> company.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Arial" panose="020B0604020202020204" pitchFamily="34" charset="0"/>
              </a:rPr>
              <a:t>It was founded by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Deepinder</a:t>
            </a:r>
            <a:r>
              <a:rPr lang="en-US" b="0" i="0" dirty="0">
                <a:effectLst/>
                <a:latin typeface="Arial" panose="020B0604020202020204" pitchFamily="34" charset="0"/>
              </a:rPr>
              <a:t> Goyal and Pankaj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Chaddah</a:t>
            </a:r>
            <a:r>
              <a:rPr lang="en-US" b="0" i="0" dirty="0">
                <a:effectLst/>
                <a:latin typeface="Arial" panose="020B0604020202020204" pitchFamily="34" charset="0"/>
              </a:rPr>
              <a:t> in 2008.</a:t>
            </a:r>
            <a:endParaRPr lang="en-US" b="0" i="0" strike="noStrike" baseline="30000" dirty="0"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Arial" panose="020B0604020202020204" pitchFamily="34" charset="0"/>
              </a:rPr>
              <a:t> Zomato provides information, menus and user-reviews of restaurants as well as food delivery options</a:t>
            </a:r>
          </a:p>
          <a:p>
            <a:pPr>
              <a:lnSpc>
                <a:spcPct val="200000"/>
              </a:lnSpc>
            </a:pPr>
            <a:r>
              <a:rPr lang="en-US" b="0" i="0" dirty="0">
                <a:effectLst/>
                <a:latin typeface="Arial" panose="020B0604020202020204" pitchFamily="34" charset="0"/>
              </a:rPr>
              <a:t> from partner restaurants in more than 1,000 Indian cities and towns, as of 2022–23.</a:t>
            </a:r>
            <a:r>
              <a:rPr lang="en-US" baseline="30000" dirty="0">
                <a:latin typeface="Arial" panose="020B0604020202020204" pitchFamily="34" charset="0"/>
              </a:rPr>
              <a:t>[</a:t>
            </a:r>
            <a:r>
              <a:rPr lang="en-US" b="0" i="0" dirty="0">
                <a:effectLst/>
                <a:latin typeface="Arial" panose="020B0604020202020204" pitchFamily="34" charset="0"/>
              </a:rPr>
              <a:t>Zomato rivals </a:t>
            </a:r>
            <a:r>
              <a:rPr lang="en-US" b="0" i="0" strike="noStrike" dirty="0">
                <a:effectLst/>
                <a:latin typeface="Arial" panose="020B0604020202020204" pitchFamily="34" charset="0"/>
                <a:hlinkClick r:id="rId4" tooltip="Swig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Swiggy</a:t>
            </a:r>
            <a:r>
              <a:rPr lang="en-US" b="0" i="0" dirty="0">
                <a:effectLst/>
                <a:latin typeface="Arial" panose="020B0604020202020204" pitchFamily="34" charset="0"/>
              </a:rPr>
              <a:t> in food delivery and hyperlocal space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9CA3FF8-F438-4131-4FBB-C508BCB7C8A0}"/>
              </a:ext>
            </a:extLst>
          </p:cNvPr>
          <p:cNvSpPr/>
          <p:nvPr/>
        </p:nvSpPr>
        <p:spPr>
          <a:xfrm>
            <a:off x="721261" y="667222"/>
            <a:ext cx="7554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</a:rPr>
              <a:t>Introduction</a:t>
            </a:r>
            <a:endParaRPr lang="en-US" sz="4450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89F16F1A-E248-17C0-BF55-0C290EDE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841" y="6343223"/>
            <a:ext cx="5694744" cy="121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47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FF67E-2A10-BDB7-27F6-A0422360FC2C}"/>
              </a:ext>
            </a:extLst>
          </p:cNvPr>
          <p:cNvSpPr txBox="1"/>
          <p:nvPr/>
        </p:nvSpPr>
        <p:spPr>
          <a:xfrm>
            <a:off x="2500132" y="1932973"/>
            <a:ext cx="111001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The Project’s objective is to study the restaurant scenario in many locations across the world by using the Zomato restaurant information. Restaurants are an important part of a city’s economy because they mostly rely on Food sales revenue.</a:t>
            </a:r>
          </a:p>
          <a:p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The main objective is to identify the crucial factors affecting a restaurant’s performance across multiple cities. With this information, plans may be created and informed decisions may be made to enhance restaurant operations, enhance patron experiences, and promote industry expansion.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D5F5223-069F-0A94-2069-16DF8A209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7813" y="1"/>
            <a:ext cx="2761859" cy="82296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D94BA308-4FB8-D046-FF9A-24C96B470CF3}"/>
              </a:ext>
            </a:extLst>
          </p:cNvPr>
          <p:cNvSpPr/>
          <p:nvPr/>
        </p:nvSpPr>
        <p:spPr>
          <a:xfrm>
            <a:off x="2746831" y="667222"/>
            <a:ext cx="7554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</a:rPr>
              <a:t>Objective: 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195813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04ED-7810-2904-86B3-5D7C0516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928AD00-3CD0-50F5-349C-C659F5B51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7813" y="1"/>
            <a:ext cx="2761859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D24E2EC-3AE9-E0A9-D797-AF34A84AEB54}"/>
              </a:ext>
            </a:extLst>
          </p:cNvPr>
          <p:cNvSpPr/>
          <p:nvPr/>
        </p:nvSpPr>
        <p:spPr>
          <a:xfrm>
            <a:off x="2746831" y="667222"/>
            <a:ext cx="7554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</a:rPr>
              <a:t> </a:t>
            </a:r>
            <a:endParaRPr lang="en-US" sz="44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BC3BDBD-7F10-D4FE-AFED-4AF060943B2E}"/>
              </a:ext>
            </a:extLst>
          </p:cNvPr>
          <p:cNvSpPr/>
          <p:nvPr/>
        </p:nvSpPr>
        <p:spPr>
          <a:xfrm>
            <a:off x="6542365" y="2247781"/>
            <a:ext cx="15585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BA3E7F0-E840-D22E-F3FA-227BAD5FA418}"/>
              </a:ext>
            </a:extLst>
          </p:cNvPr>
          <p:cNvSpPr/>
          <p:nvPr/>
        </p:nvSpPr>
        <p:spPr>
          <a:xfrm>
            <a:off x="2753842" y="2227946"/>
            <a:ext cx="10475089" cy="196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-apple-system"/>
              </a:rPr>
              <a:t>The project showcases the use of Excel, SQL, and dashboard tools such as Power BI and Tableau for data analysis and visualization, and provides a valuable resource for anyone interested in learning more about these tools and techniques.</a:t>
            </a:r>
            <a:endParaRPr lang="en-US" sz="2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A9D7B81-F286-5009-DED0-C9FEC4A35B00}"/>
              </a:ext>
            </a:extLst>
          </p:cNvPr>
          <p:cNvSpPr/>
          <p:nvPr/>
        </p:nvSpPr>
        <p:spPr>
          <a:xfrm>
            <a:off x="6524030" y="6041112"/>
            <a:ext cx="19264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408F9E2-683C-7AFF-965A-2917311FF877}"/>
              </a:ext>
            </a:extLst>
          </p:cNvPr>
          <p:cNvSpPr/>
          <p:nvPr/>
        </p:nvSpPr>
        <p:spPr>
          <a:xfrm>
            <a:off x="2746831" y="3848725"/>
            <a:ext cx="11076971" cy="377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1F2328"/>
                </a:solidFill>
                <a:effectLst/>
                <a:latin typeface="-apple-system"/>
              </a:rPr>
              <a:t>Excel</a:t>
            </a:r>
            <a:r>
              <a:rPr lang="en-IN" sz="2400" b="0" i="0" dirty="0">
                <a:solidFill>
                  <a:srgbClr val="1F2328"/>
                </a:solidFill>
                <a:effectLst/>
                <a:latin typeface="-apple-system"/>
              </a:rPr>
              <a:t>: Leveraged advanced Excel functions such as VLOOKUP, PivotTables, and conditional formatting.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1F2328"/>
                </a:solidFill>
                <a:effectLst/>
                <a:latin typeface="-apple-system"/>
              </a:rPr>
              <a:t>SQL</a:t>
            </a:r>
            <a:r>
              <a:rPr lang="en-IN" sz="2400" b="0" i="0" dirty="0">
                <a:solidFill>
                  <a:srgbClr val="1F2328"/>
                </a:solidFill>
                <a:effectLst/>
                <a:latin typeface="-apple-system"/>
              </a:rPr>
              <a:t>: Utilized SQL queries for data extraction and manipulation.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1F2328"/>
                </a:solidFill>
                <a:effectLst/>
                <a:latin typeface="-apple-system"/>
              </a:rPr>
              <a:t>Power BI</a:t>
            </a:r>
            <a:r>
              <a:rPr lang="en-IN" sz="2400" b="0" i="0" dirty="0">
                <a:solidFill>
                  <a:srgbClr val="1F2328"/>
                </a:solidFill>
                <a:effectLst/>
                <a:latin typeface="-apple-system"/>
              </a:rPr>
              <a:t>: Created interactive dashboards for visualizing and </a:t>
            </a:r>
            <a:r>
              <a:rPr lang="en-IN" sz="2400" b="0" i="0" dirty="0" err="1">
                <a:solidFill>
                  <a:srgbClr val="1F2328"/>
                </a:solidFill>
                <a:effectLst/>
                <a:latin typeface="-apple-system"/>
              </a:rPr>
              <a:t>analyzing</a:t>
            </a:r>
            <a:r>
              <a:rPr lang="en-IN" sz="2400" b="0" i="0" dirty="0">
                <a:solidFill>
                  <a:srgbClr val="1F2328"/>
                </a:solidFill>
                <a:effectLst/>
                <a:latin typeface="-apple-system"/>
              </a:rPr>
              <a:t> Zomato restaurant data.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1F2328"/>
                </a:solidFill>
                <a:effectLst/>
                <a:latin typeface="-apple-system"/>
              </a:rPr>
              <a:t>Tableau</a:t>
            </a:r>
            <a:r>
              <a:rPr lang="en-IN" sz="2400" b="0" i="0" dirty="0">
                <a:solidFill>
                  <a:srgbClr val="1F2328"/>
                </a:solidFill>
                <a:effectLst/>
                <a:latin typeface="-apple-system"/>
              </a:rPr>
              <a:t>: Employed Tableau for visualizing Zomato restaurant data and generating insights.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8841C1CA-85E1-B5B8-B833-966B4E8FB32D}"/>
              </a:ext>
            </a:extLst>
          </p:cNvPr>
          <p:cNvSpPr/>
          <p:nvPr/>
        </p:nvSpPr>
        <p:spPr>
          <a:xfrm>
            <a:off x="2899231" y="819622"/>
            <a:ext cx="7554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</a:rPr>
              <a:t>Tools used: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292008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70454B2-F3FB-3B9F-2DC8-12DCF73CAF7B}"/>
              </a:ext>
            </a:extLst>
          </p:cNvPr>
          <p:cNvSpPr txBox="1"/>
          <p:nvPr/>
        </p:nvSpPr>
        <p:spPr>
          <a:xfrm>
            <a:off x="1597306" y="717630"/>
            <a:ext cx="2801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Agenda:</a:t>
            </a:r>
          </a:p>
          <a:p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A6D169-15FF-D3A2-F420-4C2B7DB6FA31}"/>
              </a:ext>
            </a:extLst>
          </p:cNvPr>
          <p:cNvSpPr txBox="1"/>
          <p:nvPr/>
        </p:nvSpPr>
        <p:spPr>
          <a:xfrm>
            <a:off x="1597306" y="1632030"/>
            <a:ext cx="11806178" cy="6695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Introduction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KPI: </a:t>
            </a:r>
            <a:r>
              <a:rPr lang="en-US" sz="2400" dirty="0"/>
              <a:t>Numbers of Restaurant's based on City and Country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KPI: Numbers of Restaurant's opening based on Year , Quarter , Month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KPI: Count of Restaurant's based on Average Ratings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KPI: Percentage of Restaurant's based on "Has_Table_booking"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KPI: Percentage of Restaurant's based on "Has_Online_delivery</a:t>
            </a:r>
            <a:r>
              <a:rPr lang="en-US" dirty="0"/>
              <a:t>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Tableau Dashboard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Power BI Dashboard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Excel Dashboard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303" y="595413"/>
            <a:ext cx="124723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Restaurant Distribution by City and Country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802303" y="1548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1663" y="21770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has the highest number of restaurants whereas </a:t>
            </a:r>
            <a:r>
              <a:rPr lang="en-US" sz="175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Hyderabad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having Least number of restaurants.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86640" y="17611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Country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1901" y="230617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represents the highest number of restaurants whereas </a:t>
            </a:r>
            <a:r>
              <a:rPr lang="en-US" sz="175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Canada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having Least number of restaurants.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41547-D95B-FA10-73C9-8805AB168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1" y="3797881"/>
            <a:ext cx="5815354" cy="4069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B44A8B-12AE-91A0-9A7B-CE5A6D927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901" y="3585610"/>
            <a:ext cx="6714408" cy="4192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885D0C0-2D37-68B0-5442-B2FDAA93C2C0}"/>
              </a:ext>
            </a:extLst>
          </p:cNvPr>
          <p:cNvSpPr/>
          <p:nvPr/>
        </p:nvSpPr>
        <p:spPr>
          <a:xfrm>
            <a:off x="932686" y="449507"/>
            <a:ext cx="12621268" cy="81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Restaurants Based on Average Ratings</a:t>
            </a:r>
            <a:endParaRPr lang="en-US" sz="4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7718CA-D791-6F24-0E49-B6EDEADA5DC6}"/>
              </a:ext>
            </a:extLst>
          </p:cNvPr>
          <p:cNvSpPr/>
          <p:nvPr/>
        </p:nvSpPr>
        <p:spPr>
          <a:xfrm>
            <a:off x="851663" y="1724628"/>
            <a:ext cx="6244709" cy="92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175E28-C0E3-9417-EE6A-CBBCD3960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76" y="2835797"/>
            <a:ext cx="7389512" cy="506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8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BB90-82E0-E7D0-8B86-33DA5614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4859594-C864-3DC3-5B41-9C125C32207C}"/>
              </a:ext>
            </a:extLst>
          </p:cNvPr>
          <p:cNvSpPr/>
          <p:nvPr/>
        </p:nvSpPr>
        <p:spPr>
          <a:xfrm>
            <a:off x="932686" y="449507"/>
            <a:ext cx="12621268" cy="67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5 Restaurants Based on Reviews </a:t>
            </a:r>
            <a:endParaRPr lang="en-US" sz="4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F7F04A-99E2-80F6-72DB-59046637CDAE}"/>
              </a:ext>
            </a:extLst>
          </p:cNvPr>
          <p:cNvSpPr/>
          <p:nvPr/>
        </p:nvSpPr>
        <p:spPr>
          <a:xfrm>
            <a:off x="851663" y="1724628"/>
            <a:ext cx="6244709" cy="92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992C8-E5E3-8487-FA5F-A654037A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22" y="1516284"/>
            <a:ext cx="12352873" cy="636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9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649" y="631983"/>
            <a:ext cx="8335156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Table Booking &amp; Online Delivery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49" y="247477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649" y="3190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Table Booking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649" y="3726456"/>
            <a:ext cx="36080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12% Total Restaurants has Table  Booking 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49" y="522157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3649" y="591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No Booking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23530" y="6402599"/>
            <a:ext cx="3608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88% Total Restaurants has No Table  Booking 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A5AC790-A457-43CE-B0DD-29C46EBDD5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957160"/>
              </p:ext>
            </p:extLst>
          </p:nvPr>
        </p:nvGraphicFramePr>
        <p:xfrm>
          <a:off x="9144000" y="4271058"/>
          <a:ext cx="5486400" cy="3958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0EC3678A-9FAA-45A3-AC01-2866DEA8AA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4546611"/>
              </p:ext>
            </p:extLst>
          </p:nvPr>
        </p:nvGraphicFramePr>
        <p:xfrm>
          <a:off x="9144000" y="-9180"/>
          <a:ext cx="5486400" cy="3735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AD9FAA4F-5009-9621-16D5-7C232C6C6E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25" y="2433733"/>
            <a:ext cx="566976" cy="566976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E98D5C74-FFEC-0D10-C607-1BAA25B9AD05}"/>
              </a:ext>
            </a:extLst>
          </p:cNvPr>
          <p:cNvSpPr/>
          <p:nvPr/>
        </p:nvSpPr>
        <p:spPr>
          <a:xfrm>
            <a:off x="4634800" y="31854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Online Delivery</a:t>
            </a:r>
            <a:endParaRPr lang="en-US" sz="22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364B6BDF-C0AF-332F-3DCD-F03D18FB30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1227" y="5051822"/>
            <a:ext cx="566976" cy="566976"/>
          </a:xfrm>
          <a:prstGeom prst="rect">
            <a:avLst/>
          </a:prstGeom>
        </p:spPr>
      </p:pic>
      <p:sp>
        <p:nvSpPr>
          <p:cNvPr id="22" name="Text 3">
            <a:extLst>
              <a:ext uri="{FF2B5EF4-FFF2-40B4-BE49-F238E27FC236}">
                <a16:creationId xmlns:a16="http://schemas.microsoft.com/office/drawing/2014/main" id="{ECA16B04-FADE-97B0-C882-E60553CFE153}"/>
              </a:ext>
            </a:extLst>
          </p:cNvPr>
          <p:cNvSpPr/>
          <p:nvPr/>
        </p:nvSpPr>
        <p:spPr>
          <a:xfrm>
            <a:off x="4791227" y="591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No Delivery</a:t>
            </a:r>
            <a:endParaRPr lang="en-US" sz="22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6393F694-D087-B150-D291-50B7F543A5B7}"/>
              </a:ext>
            </a:extLst>
          </p:cNvPr>
          <p:cNvSpPr/>
          <p:nvPr/>
        </p:nvSpPr>
        <p:spPr>
          <a:xfrm>
            <a:off x="4634800" y="3685444"/>
            <a:ext cx="3608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26 % Total Restaurants has Online delivery 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5D018B8-14BC-2215-06B1-DE205BE93CA8}"/>
              </a:ext>
            </a:extLst>
          </p:cNvPr>
          <p:cNvSpPr/>
          <p:nvPr/>
        </p:nvSpPr>
        <p:spPr>
          <a:xfrm>
            <a:off x="4791227" y="6334914"/>
            <a:ext cx="3608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74 % Total Restaurants has Online delivery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5E5116F6-65D8-AC2E-94A7-3A0789B770C2}"/>
              </a:ext>
            </a:extLst>
          </p:cNvPr>
          <p:cNvSpPr/>
          <p:nvPr/>
        </p:nvSpPr>
        <p:spPr>
          <a:xfrm>
            <a:off x="3935393" y="323115"/>
            <a:ext cx="7554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Tableau Dashboard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5561D-EE62-A4A6-3F86-54A20F97A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4624"/>
            <a:ext cx="14630400" cy="64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8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7ADDE0-897C-6198-A754-104E94163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6916"/>
            <a:ext cx="14526227" cy="699784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8301A4C-25A8-C749-25FF-580FC3F78D1B}"/>
              </a:ext>
            </a:extLst>
          </p:cNvPr>
          <p:cNvSpPr/>
          <p:nvPr/>
        </p:nvSpPr>
        <p:spPr>
          <a:xfrm>
            <a:off x="3935393" y="323115"/>
            <a:ext cx="7554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PowerBI</a:t>
            </a: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Dashboard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341820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0AB0369-9E5E-ED67-15C8-A5BE0FDCEE38}"/>
              </a:ext>
            </a:extLst>
          </p:cNvPr>
          <p:cNvSpPr/>
          <p:nvPr/>
        </p:nvSpPr>
        <p:spPr>
          <a:xfrm>
            <a:off x="4942390" y="323115"/>
            <a:ext cx="7554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Excel Dashboard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C0D58-D1A6-6F34-362A-3D1C5ACC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26" y="1139615"/>
            <a:ext cx="12600878" cy="693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18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6A42FF-531C-CFB1-62B1-A1DDB81CAA2E}"/>
              </a:ext>
            </a:extLst>
          </p:cNvPr>
          <p:cNvSpPr txBox="1"/>
          <p:nvPr/>
        </p:nvSpPr>
        <p:spPr>
          <a:xfrm>
            <a:off x="821803" y="1165691"/>
            <a:ext cx="12500658" cy="515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-apple-system"/>
              </a:rPr>
              <a:t>Excel functions were used, including: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-apple-system"/>
              </a:rPr>
              <a:t>SUMIFS and COUNTIFS functions to extract and count data based on specific criteria.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-apple-system"/>
              </a:rPr>
              <a:t>PivotTables and </a:t>
            </a:r>
            <a:r>
              <a:rPr lang="en-US" sz="2400" b="0" i="0" dirty="0" err="1">
                <a:solidFill>
                  <a:srgbClr val="1F2328"/>
                </a:solidFill>
                <a:effectLst/>
                <a:latin typeface="-apple-system"/>
              </a:rPr>
              <a:t>PivotCharts</a:t>
            </a:r>
            <a:r>
              <a:rPr lang="en-US" sz="2400" b="0" i="0" dirty="0">
                <a:solidFill>
                  <a:srgbClr val="1F2328"/>
                </a:solidFill>
                <a:effectLst/>
                <a:latin typeface="-apple-system"/>
              </a:rPr>
              <a:t> to summarize and analyze data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-apple-system"/>
              </a:rPr>
              <a:t> Conditional formatting to highlight key insights in the data Report connections to link multiple PivotTables and charts to a single slicer, allowing for dynamic filtering of the data VLOOKUP and INDEX-MATCH functions to merge data from different tables.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-apple-system"/>
              </a:rPr>
              <a:t>DATE and YEAR functions to extract information from date fields</a:t>
            </a:r>
          </a:p>
        </p:txBody>
      </p:sp>
    </p:spTree>
    <p:extLst>
      <p:ext uri="{BB962C8B-B14F-4D97-AF65-F5344CB8AC3E}">
        <p14:creationId xmlns:p14="http://schemas.microsoft.com/office/powerpoint/2010/main" val="2207039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862561-EDD2-F4E0-89FF-B9FD055F5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9984"/>
            <a:ext cx="14630400" cy="6759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6B8EE0-56C2-CB84-CABB-6C2D053EB86A}"/>
              </a:ext>
            </a:extLst>
          </p:cNvPr>
          <p:cNvSpPr txBox="1"/>
          <p:nvPr/>
        </p:nvSpPr>
        <p:spPr>
          <a:xfrm>
            <a:off x="179852" y="234276"/>
            <a:ext cx="1155003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question 1</a:t>
            </a:r>
          </a:p>
        </p:txBody>
      </p:sp>
    </p:spTree>
    <p:extLst>
      <p:ext uri="{BB962C8B-B14F-4D97-AF65-F5344CB8AC3E}">
        <p14:creationId xmlns:p14="http://schemas.microsoft.com/office/powerpoint/2010/main" val="3959960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0274D-0BF5-8A6B-574A-CC5848B3DE98}"/>
              </a:ext>
            </a:extLst>
          </p:cNvPr>
          <p:cNvSpPr txBox="1"/>
          <p:nvPr/>
        </p:nvSpPr>
        <p:spPr>
          <a:xfrm>
            <a:off x="179852" y="234276"/>
            <a:ext cx="1155003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Calendar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9EDFE-E22D-2D11-FC6A-3D40A7B18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100"/>
            <a:ext cx="14630400" cy="736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7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F6D49-25D7-7D82-946B-B3D705422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106592"/>
            <a:ext cx="8952372" cy="6079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CC0FE6-7F17-72BB-56E2-75137E645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033" y="-17008"/>
            <a:ext cx="7723366" cy="5931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C04C12-80EA-8525-C727-27979C70DF01}"/>
              </a:ext>
            </a:extLst>
          </p:cNvPr>
          <p:cNvSpPr txBox="1"/>
          <p:nvPr/>
        </p:nvSpPr>
        <p:spPr>
          <a:xfrm>
            <a:off x="179853" y="234276"/>
            <a:ext cx="493615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KPI</a:t>
            </a:r>
          </a:p>
        </p:txBody>
      </p:sp>
    </p:spTree>
    <p:extLst>
      <p:ext uri="{BB962C8B-B14F-4D97-AF65-F5344CB8AC3E}">
        <p14:creationId xmlns:p14="http://schemas.microsoft.com/office/powerpoint/2010/main" val="285111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00E35-91A0-A70D-3C97-754B1AC2B4AE}"/>
              </a:ext>
            </a:extLst>
          </p:cNvPr>
          <p:cNvSpPr txBox="1"/>
          <p:nvPr/>
        </p:nvSpPr>
        <p:spPr>
          <a:xfrm>
            <a:off x="179853" y="234276"/>
            <a:ext cx="493615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KPI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915FD-C4FC-4827-EF47-BC4EEFEC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" y="1226915"/>
            <a:ext cx="14603863" cy="66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47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09926-9732-8910-0B33-7EE55C4BD3B0}"/>
              </a:ext>
            </a:extLst>
          </p:cNvPr>
          <p:cNvSpPr txBox="1"/>
          <p:nvPr/>
        </p:nvSpPr>
        <p:spPr>
          <a:xfrm>
            <a:off x="179853" y="234276"/>
            <a:ext cx="493615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KPI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67957-37C6-E695-D50A-7BB0CC174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719"/>
            <a:ext cx="14270442" cy="5839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A1BBA1-7FEA-AC34-67DA-B12F07BF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255"/>
          <a:stretch/>
        </p:blipFill>
        <p:spPr>
          <a:xfrm>
            <a:off x="6487849" y="4514127"/>
            <a:ext cx="7864758" cy="205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82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88AEC-6E32-BCFF-C8BB-05FB33724EDE}"/>
              </a:ext>
            </a:extLst>
          </p:cNvPr>
          <p:cNvSpPr txBox="1"/>
          <p:nvPr/>
        </p:nvSpPr>
        <p:spPr>
          <a:xfrm>
            <a:off x="179853" y="234276"/>
            <a:ext cx="493615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KPI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6B7CE-9AEF-CC25-9D63-5EB48802E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676"/>
            <a:ext cx="14630400" cy="7349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3513C5-CAFC-DB51-E4C0-BD592294CE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779"/>
          <a:stretch/>
        </p:blipFill>
        <p:spPr>
          <a:xfrm>
            <a:off x="4363657" y="5783524"/>
            <a:ext cx="3496163" cy="13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61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5A286-CF27-B802-05F3-2C1E19440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00"/>
          <a:stretch/>
        </p:blipFill>
        <p:spPr>
          <a:xfrm>
            <a:off x="0" y="1689903"/>
            <a:ext cx="14630400" cy="6539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19CE7-F77C-5570-5921-F7F3118ADF94}"/>
              </a:ext>
            </a:extLst>
          </p:cNvPr>
          <p:cNvSpPr txBox="1"/>
          <p:nvPr/>
        </p:nvSpPr>
        <p:spPr>
          <a:xfrm>
            <a:off x="179853" y="234276"/>
            <a:ext cx="493615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KPI</a:t>
            </a:r>
          </a:p>
        </p:txBody>
      </p:sp>
    </p:spTree>
    <p:extLst>
      <p:ext uri="{BB962C8B-B14F-4D97-AF65-F5344CB8AC3E}">
        <p14:creationId xmlns:p14="http://schemas.microsoft.com/office/powerpoint/2010/main" val="3559598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4251C-59C5-84C6-EBA4-968812E8C445}"/>
              </a:ext>
            </a:extLst>
          </p:cNvPr>
          <p:cNvSpPr txBox="1"/>
          <p:nvPr/>
        </p:nvSpPr>
        <p:spPr>
          <a:xfrm>
            <a:off x="925974" y="816140"/>
            <a:ext cx="10208871" cy="451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SQL queries were executed using the following keywords:</a:t>
            </a:r>
          </a:p>
          <a:p>
            <a:pPr marL="285750" indent="-28575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SELECT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to retrieve data from specific columns </a:t>
            </a:r>
          </a:p>
          <a:p>
            <a:pPr marL="285750" indent="-28575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FROM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to specify the table to retrieve data</a:t>
            </a:r>
          </a:p>
          <a:p>
            <a:pPr marL="285750" indent="-28575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F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rom </a:t>
            </a: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WHERE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to filter data based on specific conditions</a:t>
            </a:r>
          </a:p>
          <a:p>
            <a:pPr marL="285750" indent="-28575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GROUP BY 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to group data based on specific columns</a:t>
            </a:r>
          </a:p>
          <a:p>
            <a:pPr marL="285750" indent="-28575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ORDER BY 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to sort data in ascending or descending order</a:t>
            </a:r>
          </a:p>
        </p:txBody>
      </p:sp>
    </p:spTree>
    <p:extLst>
      <p:ext uri="{BB962C8B-B14F-4D97-AF65-F5344CB8AC3E}">
        <p14:creationId xmlns:p14="http://schemas.microsoft.com/office/powerpoint/2010/main" val="2137180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4E73E5-1921-F57C-7C3A-FB7D7E3F4195}"/>
              </a:ext>
            </a:extLst>
          </p:cNvPr>
          <p:cNvSpPr txBox="1"/>
          <p:nvPr/>
        </p:nvSpPr>
        <p:spPr>
          <a:xfrm>
            <a:off x="544009" y="787078"/>
            <a:ext cx="11794603" cy="5307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i="0" dirty="0">
                <a:effectLst/>
                <a:latin typeface="Open Sans" panose="020B0606030504020204" pitchFamily="34" charset="0"/>
              </a:rPr>
              <a:t>Conclusion: 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effectLst/>
                <a:latin typeface="Open Sans" panose="020B0606030504020204" pitchFamily="34" charset="0"/>
              </a:rPr>
              <a:t>-  Top Cuisines by Votes: North Indian and Mughlai.</a:t>
            </a:r>
          </a:p>
          <a:p>
            <a:pPr>
              <a:lnSpc>
                <a:spcPct val="200000"/>
              </a:lnSpc>
            </a:pPr>
            <a:r>
              <a:rPr lang="en-US" sz="18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India has the highest number of restaurants whereas Canada is having Least number of restaurants</a:t>
            </a:r>
            <a:br>
              <a:rPr lang="en-US" dirty="0"/>
            </a:br>
            <a:r>
              <a:rPr lang="en-US" b="0" i="0" dirty="0">
                <a:effectLst/>
                <a:latin typeface="Open Sans" panose="020B0606030504020204" pitchFamily="34" charset="0"/>
              </a:rPr>
              <a:t>- Affordable Options: Out of 9551 restaurants, 7273 have an average cost for two persons of $10 or less.</a:t>
            </a:r>
            <a:br>
              <a:rPr lang="en-US" dirty="0"/>
            </a:br>
            <a:r>
              <a:rPr lang="en-US" b="0" i="0" dirty="0">
                <a:effectLst/>
                <a:latin typeface="Open Sans" panose="020B0606030504020204" pitchFamily="34" charset="0"/>
              </a:rPr>
              <a:t>- Table Booking Facilities: Only 8.63% of the 9551 restaurants offer table booking.</a:t>
            </a:r>
            <a:br>
              <a:rPr lang="en-US" dirty="0"/>
            </a:br>
            <a:r>
              <a:rPr lang="en-US" b="0" i="0" dirty="0">
                <a:effectLst/>
                <a:latin typeface="Open Sans" panose="020B0606030504020204" pitchFamily="34" charset="0"/>
              </a:rPr>
              <a:t>- Online Delivery Facilities: Only 22.05% of the 9551 restaurants provide online delivery.</a:t>
            </a:r>
            <a:br>
              <a:rPr lang="en-US" dirty="0"/>
            </a:br>
            <a:r>
              <a:rPr lang="en-US" b="0" i="0" dirty="0">
                <a:effectLst/>
                <a:latin typeface="Open Sans" panose="020B0606030504020204" pitchFamily="34" charset="0"/>
              </a:rPr>
              <a:t>- Year with Maximum Openings: The year 2018 witnessed the highest number of restaurant openings, totaling 1102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60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B702ED-8BD5-DD43-3274-5D7C842AFB21}"/>
              </a:ext>
            </a:extLst>
          </p:cNvPr>
          <p:cNvSpPr txBox="1"/>
          <p:nvPr/>
        </p:nvSpPr>
        <p:spPr>
          <a:xfrm>
            <a:off x="2087430" y="2444361"/>
            <a:ext cx="946410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54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309490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1449</TotalTime>
  <Words>727</Words>
  <Application>Microsoft Office PowerPoint</Application>
  <PresentationFormat>Custom</PresentationFormat>
  <Paragraphs>82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Wingdings</vt:lpstr>
      <vt:lpstr>Open Sans Bold</vt:lpstr>
      <vt:lpstr>-apple-system</vt:lpstr>
      <vt:lpstr>Merriweather Bold</vt:lpstr>
      <vt:lpstr>Tw Cen MT</vt:lpstr>
      <vt:lpstr>Open Sans</vt:lpstr>
      <vt:lpstr>Segoe UI</vt:lpstr>
      <vt:lpstr>Arial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Seema parmeshware</cp:lastModifiedBy>
  <cp:revision>29</cp:revision>
  <dcterms:created xsi:type="dcterms:W3CDTF">2025-01-12T15:27:42Z</dcterms:created>
  <dcterms:modified xsi:type="dcterms:W3CDTF">2025-01-13T17:13:55Z</dcterms:modified>
</cp:coreProperties>
</file>